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70" r:id="rId5"/>
    <p:sldId id="269" r:id="rId6"/>
    <p:sldId id="259" r:id="rId7"/>
    <p:sldId id="260" r:id="rId8"/>
    <p:sldId id="261" r:id="rId9"/>
    <p:sldId id="264" r:id="rId10"/>
    <p:sldId id="263" r:id="rId11"/>
    <p:sldId id="262" r:id="rId12"/>
    <p:sldId id="265" r:id="rId13"/>
    <p:sldId id="266"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67"/>
    <p:restoredTop sz="94610"/>
  </p:normalViewPr>
  <p:slideViewPr>
    <p:cSldViewPr snapToGrid="0" snapToObjects="1">
      <p:cViewPr varScale="1">
        <p:scale>
          <a:sx n="301" d="100"/>
          <a:sy n="301" d="100"/>
        </p:scale>
        <p:origin x="9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620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synthetic data </a:t>
            </a:r>
          </a:p>
          <a:p>
            <a:r>
              <a:rPr lang="en-US" dirty="0"/>
              <a:t>each applicant having income, loan amount, employment status and a few more variables which contributes to final outcome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that employed and self employed applicants have very </a:t>
            </a:r>
            <a:r>
              <a:rPr lang="en-US" dirty="0" err="1"/>
              <a:t>similiar</a:t>
            </a:r>
            <a:r>
              <a:rPr lang="en-US" dirty="0"/>
              <a:t> default rate, unemployed people are having a much higher default rate </a:t>
            </a:r>
            <a:r>
              <a:rPr lang="en-US" dirty="0" err="1"/>
              <a:t>aroung</a:t>
            </a:r>
            <a:r>
              <a:rPr lang="en-US" dirty="0"/>
              <a:t> 47%</a:t>
            </a:r>
          </a:p>
          <a:p>
            <a:r>
              <a:rPr lang="en-US" dirty="0"/>
              <a:t>making employment status very vital to examine for, we will mention it again in fairness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B808-D305-A72A-EDA1-ECCF86A41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40B7C-FBF6-820D-B823-3E0A43A59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98723-5033-F638-EF31-A4913AB510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histogram shows that repaid applicants tend to have higher rule-based scores than defaulters, but there is substantial overlap between the two groups. So the rule system captures some risk signal, but it does not cleanly separate good and bad borrowers.</a:t>
            </a:r>
          </a:p>
          <a:p>
            <a:endParaRPr lang="en-US" dirty="0"/>
          </a:p>
        </p:txBody>
      </p:sp>
      <p:sp>
        <p:nvSpPr>
          <p:cNvPr id="4" name="Slide Number Placeholder 3">
            <a:extLst>
              <a:ext uri="{FF2B5EF4-FFF2-40B4-BE49-F238E27FC236}">
                <a16:creationId xmlns:a16="http://schemas.microsoft.com/office/drawing/2014/main" id="{72AAF44A-1563-296E-B805-5941149C918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60025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ABEA-625C-C400-5CD5-D8A59FA07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F72E3-5710-2A79-C564-358231127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845EE-3DCD-C4A6-9BF9-F632188D1F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chart compares the rule-based decisions with actual outcomes. Approved applicants are mostly repaid, which suggests the rule system is somewhat sensible, but the denied and flagged groups still contain many mixed outcomes. That means the rule system is not fully efficient and may be missing opportunities to separate true risk more accurately.</a:t>
            </a:r>
          </a:p>
          <a:p>
            <a:endParaRPr lang="en-US" dirty="0"/>
          </a:p>
        </p:txBody>
      </p:sp>
      <p:sp>
        <p:nvSpPr>
          <p:cNvPr id="4" name="Slide Number Placeholder 3">
            <a:extLst>
              <a:ext uri="{FF2B5EF4-FFF2-40B4-BE49-F238E27FC236}">
                <a16:creationId xmlns:a16="http://schemas.microsoft.com/office/drawing/2014/main" id="{3ECC3F87-497E-1B1E-744F-0FF6A4B5DAD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711950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Nulls (283 rows with missing</a:t>
            </a:r>
          </a:p>
          <a:p>
            <a:r>
              <a:rPr lang="en-US" sz="1200" kern="1200" dirty="0" err="1">
                <a:solidFill>
                  <a:schemeClr val="tx1"/>
                </a:solidFill>
                <a:effectLst/>
                <a:latin typeface="+mn-lt"/>
                <a:ea typeface="+mn-ea"/>
                <a:cs typeface="+mn-cs"/>
              </a:rPr>
              <a:t>documented_monthly</a:t>
            </a:r>
            <a:r>
              <a:rPr lang="en-US" sz="1200" kern="1200" dirty="0">
                <a:solidFill>
                  <a:schemeClr val="tx1"/>
                </a:solidFill>
                <a:effectLst/>
                <a:latin typeface="+mn-lt"/>
                <a:ea typeface="+mn-ea"/>
                <a:cs typeface="+mn-cs"/>
              </a:rPr>
              <a:t> _income): Treated the missingness as a signal,</a:t>
            </a:r>
          </a:p>
          <a:p>
            <a:endParaRPr lang="en-US" dirty="0"/>
          </a:p>
          <a:p>
            <a:r>
              <a:rPr lang="en-US" sz="1200" kern="1200" dirty="0">
                <a:solidFill>
                  <a:schemeClr val="tx1"/>
                </a:solidFill>
                <a:effectLst/>
                <a:latin typeface="+mn-lt"/>
                <a:ea typeface="+mn-ea"/>
                <a:cs typeface="+mn-cs"/>
              </a:rPr>
              <a:t>Instead of imputing the mean or median, I created has _documentation - a binary feature that's 1 if docs exist, 0 if </a:t>
            </a:r>
            <a:r>
              <a:rPr lang="en-US" sz="1200" kern="1200" dirty="0" err="1">
                <a:solidFill>
                  <a:schemeClr val="tx1"/>
                </a:solidFill>
                <a:effectLst/>
                <a:latin typeface="+mn-lt"/>
                <a:ea typeface="+mn-ea"/>
                <a:cs typeface="+mn-cs"/>
              </a:rPr>
              <a:t>NaN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This turned out to be the single most important predictor: people who skip docs default at 49% vs 26%.</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Used </a:t>
            </a:r>
            <a:r>
              <a:rPr lang="en-US" sz="1200" kern="1200" dirty="0" err="1">
                <a:solidFill>
                  <a:schemeClr val="tx1"/>
                </a:solidFill>
                <a:effectLst/>
                <a:latin typeface="+mn-lt"/>
                <a:ea typeface="+mn-ea"/>
                <a:cs typeface="+mn-cs"/>
              </a:rPr>
              <a:t>class_weight</a:t>
            </a:r>
            <a:r>
              <a:rPr lang="en-US" sz="1200" kern="1200" dirty="0">
                <a:solidFill>
                  <a:schemeClr val="tx1"/>
                </a:solidFill>
                <a:effectLst/>
                <a:latin typeface="+mn-lt"/>
                <a:ea typeface="+mn-ea"/>
                <a:cs typeface="+mn-cs"/>
              </a:rPr>
              <a:t>= 'balanced' in logistic regression, which upweights the minority class (defaults) by roughly 2.3x during training. Without this, the model would learn to just predict "repaid" for everyone and get 70% accuracy while catching zero defaults.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Ongoing applications (164 rows): Dropped them. They have no outcome label - we can't train on data where we don't know the answer.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features </a:t>
            </a:r>
            <a:r>
              <a:rPr lang="en-US" dirty="0" err="1"/>
              <a:t>i</a:t>
            </a:r>
            <a:r>
              <a:rPr lang="en-US" dirty="0"/>
              <a:t> added during processing, mostly used to reflect their ratio relationship such as withdrawal to deposit ratio, and some encoding like employment encoded, </a:t>
            </a:r>
            <a:r>
              <a:rPr lang="en-US" dirty="0" err="1"/>
              <a:t>emplyment</a:t>
            </a:r>
            <a:r>
              <a:rPr lang="en-US" dirty="0"/>
              <a:t> as 1 , unemployment as 0, along with original </a:t>
            </a:r>
            <a:r>
              <a:rPr lang="en-US" dirty="0" err="1"/>
              <a:t>inportant</a:t>
            </a:r>
            <a:r>
              <a:rPr lang="en-US" dirty="0"/>
              <a:t> </a:t>
            </a:r>
            <a:r>
              <a:rPr lang="en-US" dirty="0" err="1"/>
              <a:t>featres</a:t>
            </a:r>
            <a:r>
              <a:rPr lang="en-US" dirty="0"/>
              <a:t> kept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compared to random forest, gradient boost, and a simple neural network,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Logistic regression is the best algorithm here for a few reasons.</a:t>
            </a:r>
          </a:p>
          <a:p>
            <a:r>
              <a:rPr lang="en-US" sz="1200" kern="1200" dirty="0">
                <a:solidFill>
                  <a:schemeClr val="tx1"/>
                </a:solidFill>
                <a:effectLst/>
                <a:latin typeface="+mn-lt"/>
                <a:ea typeface="+mn-ea"/>
                <a:cs typeface="+mn-cs"/>
              </a:rPr>
              <a:t>First, the dataset is fairly small after the split— only about 1,100 training cases with 15 engineered features-so a simpler model is less likely to overfit than trees or a neural network.</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Second, many of the features are already high-level risk indicators like affordability,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which is exactly the kind of pattern logistic regression handles well.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in data generation function, the default prob used to decide </a:t>
            </a:r>
            <a:r>
              <a:rPr lang="en-US" sz="1200" kern="1200" dirty="0" err="1">
                <a:solidFill>
                  <a:schemeClr val="tx1"/>
                </a:solidFill>
                <a:effectLst/>
                <a:latin typeface="+mn-lt"/>
                <a:ea typeface="+mn-ea"/>
                <a:cs typeface="+mn-cs"/>
              </a:rPr>
              <a:t>whehter</a:t>
            </a:r>
            <a:r>
              <a:rPr lang="en-US" sz="1200" kern="1200" dirty="0">
                <a:solidFill>
                  <a:schemeClr val="tx1"/>
                </a:solidFill>
                <a:effectLst/>
                <a:latin typeface="+mn-lt"/>
                <a:ea typeface="+mn-ea"/>
                <a:cs typeface="+mn-cs"/>
              </a:rPr>
              <a:t> some one will default is a weighted sum through a sigmoid, which is logistic regression formula.</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split the resolved loan data into 60% training, 20% validation, and 20% test, used the training set for model selection, the validation set for threshold tuning, and the held-out test set for honest final evaluation.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most important feature was clearly </a:t>
            </a:r>
            <a:r>
              <a:rPr lang="en-US" sz="1200" kern="1200" dirty="0" err="1">
                <a:solidFill>
                  <a:schemeClr val="tx1"/>
                </a:solidFill>
                <a:effectLst/>
                <a:latin typeface="+mn-lt"/>
                <a:ea typeface="+mn-ea"/>
                <a:cs typeface="+mn-cs"/>
              </a:rPr>
              <a:t>has_documentation</a:t>
            </a:r>
            <a:r>
              <a:rPr lang="en-US" sz="1200" kern="1200" dirty="0">
                <a:solidFill>
                  <a:schemeClr val="tx1"/>
                </a:solidFill>
                <a:effectLst/>
                <a:latin typeface="+mn-lt"/>
                <a:ea typeface="+mn-ea"/>
                <a:cs typeface="+mn-cs"/>
              </a:rPr>
              <a:t>. After that, the strongest signals were affordability-related features like </a:t>
            </a:r>
            <a:r>
              <a:rPr lang="en-US" sz="1200" kern="1200" dirty="0" err="1">
                <a:solidFill>
                  <a:schemeClr val="tx1"/>
                </a:solidFill>
                <a:effectLst/>
                <a:latin typeface="+mn-lt"/>
                <a:ea typeface="+mn-ea"/>
                <a:cs typeface="+mn-cs"/>
              </a:rPr>
              <a:t>income_ratio</a:t>
            </a:r>
            <a:endParaRPr lang="en-US" sz="120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overall, the model relied most on whether income could be verified, whether the loan looked affordable relative to income, and whether the applicant's bank activity looked financially stable.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Compared with the strict rule baseline, the ML model catches far more defaults: 96 of 109 (88%) versus 36 of 109 (33%), so it greatly reduces false negatives. The tradeoff is that it also wrongly denies many more good applicants: 135 of 259 (52%) versus 22 of 259 (8.5%), which means a much higher false positive rate. Overall, the ML model has the best F1 for default (0.56) and slightly better AUC-ROC (0.728), so it ranks risk better and gives a stronger balance of detection performance. If deployed as-is, it would stop more bad loans but also reject many more good customers, so the threshold should be adjusted based on business tolerance for default losses versus lost applicants.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confusion matrices show that the ML model catches many more real defaulters than the strict rule-based system, but it also wrongly flags many more good applicants.</a:t>
            </a:r>
          </a:p>
          <a:p>
            <a:r>
              <a:rPr lang="en-US" sz="1200" kern="1200" dirty="0">
                <a:solidFill>
                  <a:schemeClr val="tx1"/>
                </a:solidFill>
                <a:effectLst/>
                <a:latin typeface="+mn-lt"/>
                <a:ea typeface="+mn-ea"/>
                <a:cs typeface="+mn-cs"/>
              </a:rPr>
              <a:t>This makes the tradeoff very concrete: stronger risk detection versus higher false positives.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lender cares most about avoiding defaults, the ML model is attractive; if the lender cares more about not rejecting good customers, the current strict rule is safer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compares approval rates with actual repayment by employment group. The key point is that employed and self-employed applicants have fairly similar repayment behavior, but both the rule-based system and the ML model still approve them at somewhat different rates,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ML model approves a riskier pool than the rule-based system for employed and self-employed groups, which fits the earlier result that the model catches more defaults overall by being more aggressive.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compares the ML model with and without the employment feature. The approval rates barely change for employed and self-employed applicants, and unemployed approvals rise only slightly, which suggests we can remove the explicit employment feature with very little effect on model behavior while making the system cleaner and fairer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Default Prediction</a:t>
            </a:r>
            <a:endParaRPr lang="en-US" sz="4400" dirty="0"/>
          </a:p>
        </p:txBody>
      </p:sp>
      <p:sp>
        <p:nvSpPr>
          <p:cNvPr id="3" name="Text 1"/>
          <p:cNvSpPr/>
          <p:nvPr/>
        </p:nvSpPr>
        <p:spPr>
          <a:xfrm>
            <a:off x="731520" y="2194560"/>
            <a:ext cx="7680960" cy="640080"/>
          </a:xfrm>
          <a:prstGeom prst="rect">
            <a:avLst/>
          </a:prstGeom>
          <a:noFill/>
          <a:ln/>
        </p:spPr>
        <p:txBody>
          <a:bodyPr wrap="square" rtlCol="0" anchor="ctr"/>
          <a:lstStyle/>
          <a:p>
            <a:pPr marL="0" indent="0">
              <a:buNone/>
            </a:pPr>
            <a:r>
              <a:rPr lang="en-US" sz="2200" dirty="0">
                <a:solidFill>
                  <a:srgbClr val="CADCFC"/>
                </a:solidFill>
                <a:latin typeface="Calibri" pitchFamily="34" charset="0"/>
                <a:ea typeface="Calibri" pitchFamily="34" charset="-122"/>
                <a:cs typeface="Calibri" pitchFamily="34" charset="-120"/>
              </a:rPr>
              <a:t>AI-Powered Loan Application Processor</a:t>
            </a:r>
            <a:endParaRPr lang="en-US" sz="2200" dirty="0"/>
          </a:p>
        </p:txBody>
      </p:sp>
      <p:sp>
        <p:nvSpPr>
          <p:cNvPr id="4" name="Text 2"/>
          <p:cNvSpPr/>
          <p:nvPr/>
        </p:nvSpPr>
        <p:spPr>
          <a:xfrm>
            <a:off x="731520" y="2926080"/>
            <a:ext cx="768096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60 / 20 / 20  Train – Validation – Test Pipeline</a:t>
            </a:r>
            <a:endParaRPr lang="en-US" sz="1600" dirty="0"/>
          </a:p>
        </p:txBody>
      </p:sp>
      <p:sp>
        <p:nvSpPr>
          <p:cNvPr id="5" name="Text 3"/>
          <p:cNvSpPr/>
          <p:nvPr/>
        </p:nvSpPr>
        <p:spPr>
          <a:xfrm>
            <a:off x="731520" y="4206240"/>
            <a:ext cx="768096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Oscar Wang  |  University of Waterloo  |  MDS-AI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Pipeline Overview</a:t>
            </a:r>
            <a:endParaRPr lang="en-US" sz="3600" dirty="0"/>
          </a:p>
        </p:txBody>
      </p:sp>
      <p:sp>
        <p:nvSpPr>
          <p:cNvPr id="3" name="Shape 1"/>
          <p:cNvSpPr/>
          <p:nvPr/>
        </p:nvSpPr>
        <p:spPr>
          <a:xfrm>
            <a:off x="365760" y="1280160"/>
            <a:ext cx="1554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365760" y="1280160"/>
            <a:ext cx="1554480" cy="54864"/>
          </a:xfrm>
          <a:prstGeom prst="rect">
            <a:avLst/>
          </a:prstGeom>
          <a:solidFill>
            <a:srgbClr val="1C7293"/>
          </a:solidFill>
          <a:ln/>
        </p:spPr>
        <p:txBody>
          <a:bodyPr/>
          <a:lstStyle/>
          <a:p>
            <a:endParaRPr lang="en-US"/>
          </a:p>
        </p:txBody>
      </p:sp>
      <p:sp>
        <p:nvSpPr>
          <p:cNvPr id="5" name="Text 3"/>
          <p:cNvSpPr/>
          <p:nvPr/>
        </p:nvSpPr>
        <p:spPr>
          <a:xfrm>
            <a:off x="457200" y="1417320"/>
            <a:ext cx="1371600" cy="548640"/>
          </a:xfrm>
          <a:prstGeom prst="rect">
            <a:avLst/>
          </a:prstGeom>
          <a:noFill/>
          <a:ln/>
        </p:spPr>
        <p:txBody>
          <a:bodyPr wrap="square" rtlCol="0" anchor="t"/>
          <a:lstStyle/>
          <a:p>
            <a:pPr marL="0" indent="0">
              <a:buNone/>
            </a:pPr>
            <a:r>
              <a:rPr lang="en-US" sz="1000" b="1" dirty="0">
                <a:solidFill>
                  <a:srgbClr val="1E2761"/>
                </a:solidFill>
                <a:latin typeface="Calibri" pitchFamily="34" charset="0"/>
                <a:ea typeface="Calibri" pitchFamily="34" charset="-122"/>
                <a:cs typeface="Calibri" pitchFamily="34" charset="-120"/>
              </a:rPr>
              <a:t>generate_data.py</a:t>
            </a:r>
            <a:endParaRPr lang="en-US" sz="1000" dirty="0"/>
          </a:p>
        </p:txBody>
      </p:sp>
      <p:sp>
        <p:nvSpPr>
          <p:cNvPr id="6" name="Text 4"/>
          <p:cNvSpPr/>
          <p:nvPr/>
        </p:nvSpPr>
        <p:spPr>
          <a:xfrm>
            <a:off x="457200" y="1965960"/>
            <a:ext cx="1371600" cy="64008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2,000 synthetic</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applications</a:t>
            </a:r>
            <a:endParaRPr lang="en-US" sz="900" dirty="0"/>
          </a:p>
        </p:txBody>
      </p:sp>
      <p:sp>
        <p:nvSpPr>
          <p:cNvPr id="7" name="Text 5"/>
          <p:cNvSpPr/>
          <p:nvPr/>
        </p:nvSpPr>
        <p:spPr>
          <a:xfrm>
            <a:off x="1920240" y="1645920"/>
            <a:ext cx="182880" cy="457200"/>
          </a:xfrm>
          <a:prstGeom prst="rect">
            <a:avLst/>
          </a:prstGeom>
          <a:noFill/>
          <a:ln/>
        </p:spPr>
        <p:txBody>
          <a:bodyPr wrap="square" rtlCol="0" anchor="ctr"/>
          <a:lstStyle/>
          <a:p>
            <a:pPr marL="0" indent="0" algn="ctr">
              <a:buNone/>
            </a:pPr>
            <a:r>
              <a:rPr lang="en-US" sz="2000" dirty="0">
                <a:solidFill>
                  <a:srgbClr val="1C7293"/>
                </a:solidFill>
              </a:rPr>
              <a:t>→</a:t>
            </a:r>
            <a:endParaRPr lang="en-US" sz="2000" dirty="0"/>
          </a:p>
        </p:txBody>
      </p:sp>
      <p:sp>
        <p:nvSpPr>
          <p:cNvPr id="8" name="Shape 6"/>
          <p:cNvSpPr/>
          <p:nvPr/>
        </p:nvSpPr>
        <p:spPr>
          <a:xfrm>
            <a:off x="2103120" y="1280160"/>
            <a:ext cx="1554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2103120" y="1280160"/>
            <a:ext cx="1554480" cy="54864"/>
          </a:xfrm>
          <a:prstGeom prst="rect">
            <a:avLst/>
          </a:prstGeom>
          <a:solidFill>
            <a:srgbClr val="1C7293"/>
          </a:solidFill>
          <a:ln/>
        </p:spPr>
        <p:txBody>
          <a:bodyPr/>
          <a:lstStyle/>
          <a:p>
            <a:endParaRPr lang="en-US"/>
          </a:p>
        </p:txBody>
      </p:sp>
      <p:sp>
        <p:nvSpPr>
          <p:cNvPr id="10" name="Text 8"/>
          <p:cNvSpPr/>
          <p:nvPr/>
        </p:nvSpPr>
        <p:spPr>
          <a:xfrm>
            <a:off x="2194560" y="1417320"/>
            <a:ext cx="1371600" cy="548640"/>
          </a:xfrm>
          <a:prstGeom prst="rect">
            <a:avLst/>
          </a:prstGeom>
          <a:noFill/>
          <a:ln/>
        </p:spPr>
        <p:txBody>
          <a:bodyPr wrap="square" rtlCol="0" anchor="t"/>
          <a:lstStyle/>
          <a:p>
            <a:pPr marL="0" indent="0">
              <a:buNone/>
            </a:pPr>
            <a:r>
              <a:rPr lang="en-US" sz="1000" b="1" dirty="0">
                <a:solidFill>
                  <a:srgbClr val="1E2761"/>
                </a:solidFill>
                <a:latin typeface="Calibri" pitchFamily="34" charset="0"/>
                <a:ea typeface="Calibri" pitchFamily="34" charset="-122"/>
                <a:cs typeface="Calibri" pitchFamily="34" charset="-120"/>
              </a:rPr>
              <a:t>eda_feature_</a:t>
            </a:r>
            <a:endParaRPr lang="en-US" sz="1000" dirty="0"/>
          </a:p>
          <a:p>
            <a:pPr marL="0" indent="0">
              <a:buNone/>
            </a:pPr>
            <a:r>
              <a:rPr lang="en-US" sz="1000" b="1" dirty="0">
                <a:solidFill>
                  <a:srgbClr val="1E2761"/>
                </a:solidFill>
                <a:latin typeface="Calibri" pitchFamily="34" charset="0"/>
                <a:ea typeface="Calibri" pitchFamily="34" charset="-122"/>
                <a:cs typeface="Calibri" pitchFamily="34" charset="-120"/>
              </a:rPr>
              <a:t>engineering.py</a:t>
            </a:r>
            <a:endParaRPr lang="en-US" sz="1000" dirty="0"/>
          </a:p>
        </p:txBody>
      </p:sp>
      <p:sp>
        <p:nvSpPr>
          <p:cNvPr id="11" name="Text 9"/>
          <p:cNvSpPr/>
          <p:nvPr/>
        </p:nvSpPr>
        <p:spPr>
          <a:xfrm>
            <a:off x="2194560" y="1965960"/>
            <a:ext cx="1371600" cy="64008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15 features</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6 engineered</a:t>
            </a:r>
            <a:endParaRPr lang="en-US" sz="900" dirty="0"/>
          </a:p>
        </p:txBody>
      </p:sp>
      <p:sp>
        <p:nvSpPr>
          <p:cNvPr id="12" name="Text 10"/>
          <p:cNvSpPr/>
          <p:nvPr/>
        </p:nvSpPr>
        <p:spPr>
          <a:xfrm>
            <a:off x="3657600" y="1645920"/>
            <a:ext cx="182880" cy="457200"/>
          </a:xfrm>
          <a:prstGeom prst="rect">
            <a:avLst/>
          </a:prstGeom>
          <a:noFill/>
          <a:ln/>
        </p:spPr>
        <p:txBody>
          <a:bodyPr wrap="square" rtlCol="0" anchor="ctr"/>
          <a:lstStyle/>
          <a:p>
            <a:pPr marL="0" indent="0" algn="ctr">
              <a:buNone/>
            </a:pPr>
            <a:r>
              <a:rPr lang="en-US" sz="2000" dirty="0">
                <a:solidFill>
                  <a:srgbClr val="1C7293"/>
                </a:solidFill>
              </a:rPr>
              <a:t>→</a:t>
            </a:r>
            <a:endParaRPr lang="en-US" sz="2000" dirty="0"/>
          </a:p>
        </p:txBody>
      </p:sp>
      <p:sp>
        <p:nvSpPr>
          <p:cNvPr id="13" name="Shape 11"/>
          <p:cNvSpPr/>
          <p:nvPr/>
        </p:nvSpPr>
        <p:spPr>
          <a:xfrm>
            <a:off x="3840480" y="1280160"/>
            <a:ext cx="1554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3840480" y="1280160"/>
            <a:ext cx="1554480" cy="54864"/>
          </a:xfrm>
          <a:prstGeom prst="rect">
            <a:avLst/>
          </a:prstGeom>
          <a:solidFill>
            <a:srgbClr val="1C7293"/>
          </a:solidFill>
          <a:ln/>
        </p:spPr>
        <p:txBody>
          <a:bodyPr/>
          <a:lstStyle/>
          <a:p>
            <a:endParaRPr lang="en-US"/>
          </a:p>
        </p:txBody>
      </p:sp>
      <p:sp>
        <p:nvSpPr>
          <p:cNvPr id="15" name="Text 13"/>
          <p:cNvSpPr/>
          <p:nvPr/>
        </p:nvSpPr>
        <p:spPr>
          <a:xfrm>
            <a:off x="3931920" y="1417320"/>
            <a:ext cx="1371600" cy="548640"/>
          </a:xfrm>
          <a:prstGeom prst="rect">
            <a:avLst/>
          </a:prstGeom>
          <a:noFill/>
          <a:ln/>
        </p:spPr>
        <p:txBody>
          <a:bodyPr wrap="square" rtlCol="0" anchor="t"/>
          <a:lstStyle/>
          <a:p>
            <a:pPr marL="0" indent="0">
              <a:buNone/>
            </a:pPr>
            <a:r>
              <a:rPr lang="en-US" sz="1000" b="1" dirty="0">
                <a:solidFill>
                  <a:srgbClr val="1E2761"/>
                </a:solidFill>
                <a:latin typeface="Calibri" pitchFamily="34" charset="0"/>
                <a:ea typeface="Calibri" pitchFamily="34" charset="-122"/>
                <a:cs typeface="Calibri" pitchFamily="34" charset="-120"/>
              </a:rPr>
              <a:t>training_split.py</a:t>
            </a:r>
            <a:endParaRPr lang="en-US" sz="1000" dirty="0"/>
          </a:p>
        </p:txBody>
      </p:sp>
      <p:sp>
        <p:nvSpPr>
          <p:cNvPr id="16" name="Text 14"/>
          <p:cNvSpPr/>
          <p:nvPr/>
        </p:nvSpPr>
        <p:spPr>
          <a:xfrm>
            <a:off x="3931920" y="1965960"/>
            <a:ext cx="1371600" cy="64008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60/20/20 split</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4 models compared</a:t>
            </a:r>
            <a:endParaRPr lang="en-US" sz="900" dirty="0"/>
          </a:p>
        </p:txBody>
      </p:sp>
      <p:sp>
        <p:nvSpPr>
          <p:cNvPr id="17" name="Text 15"/>
          <p:cNvSpPr/>
          <p:nvPr/>
        </p:nvSpPr>
        <p:spPr>
          <a:xfrm>
            <a:off x="5394960" y="1645920"/>
            <a:ext cx="182880" cy="457200"/>
          </a:xfrm>
          <a:prstGeom prst="rect">
            <a:avLst/>
          </a:prstGeom>
          <a:noFill/>
          <a:ln/>
        </p:spPr>
        <p:txBody>
          <a:bodyPr wrap="square" rtlCol="0" anchor="ctr"/>
          <a:lstStyle/>
          <a:p>
            <a:pPr marL="0" indent="0" algn="ctr">
              <a:buNone/>
            </a:pPr>
            <a:r>
              <a:rPr lang="en-US" sz="2000" dirty="0">
                <a:solidFill>
                  <a:srgbClr val="1C7293"/>
                </a:solidFill>
              </a:rPr>
              <a:t>→</a:t>
            </a:r>
            <a:endParaRPr lang="en-US" sz="2000" dirty="0"/>
          </a:p>
        </p:txBody>
      </p:sp>
      <p:sp>
        <p:nvSpPr>
          <p:cNvPr id="18" name="Shape 16"/>
          <p:cNvSpPr/>
          <p:nvPr/>
        </p:nvSpPr>
        <p:spPr>
          <a:xfrm>
            <a:off x="5577840" y="1280160"/>
            <a:ext cx="1554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7"/>
          <p:cNvSpPr/>
          <p:nvPr/>
        </p:nvSpPr>
        <p:spPr>
          <a:xfrm>
            <a:off x="5577840" y="1280160"/>
            <a:ext cx="1554480" cy="54864"/>
          </a:xfrm>
          <a:prstGeom prst="rect">
            <a:avLst/>
          </a:prstGeom>
          <a:solidFill>
            <a:srgbClr val="1C7293"/>
          </a:solidFill>
          <a:ln/>
        </p:spPr>
        <p:txBody>
          <a:bodyPr/>
          <a:lstStyle/>
          <a:p>
            <a:endParaRPr lang="en-US"/>
          </a:p>
        </p:txBody>
      </p:sp>
      <p:sp>
        <p:nvSpPr>
          <p:cNvPr id="20" name="Text 18"/>
          <p:cNvSpPr/>
          <p:nvPr/>
        </p:nvSpPr>
        <p:spPr>
          <a:xfrm>
            <a:off x="5669280" y="1417320"/>
            <a:ext cx="1371600" cy="548640"/>
          </a:xfrm>
          <a:prstGeom prst="rect">
            <a:avLst/>
          </a:prstGeom>
          <a:noFill/>
          <a:ln/>
        </p:spPr>
        <p:txBody>
          <a:bodyPr wrap="square" rtlCol="0" anchor="t"/>
          <a:lstStyle/>
          <a:p>
            <a:pPr marL="0" indent="0">
              <a:buNone/>
            </a:pPr>
            <a:r>
              <a:rPr lang="en-US" sz="1000" b="1" dirty="0">
                <a:solidFill>
                  <a:srgbClr val="1E2761"/>
                </a:solidFill>
                <a:latin typeface="Calibri" pitchFamily="34" charset="0"/>
                <a:ea typeface="Calibri" pitchFamily="34" charset="-122"/>
                <a:cs typeface="Calibri" pitchFamily="34" charset="-120"/>
              </a:rPr>
              <a:t>evaluation_split.py</a:t>
            </a:r>
            <a:endParaRPr lang="en-US" sz="1000" dirty="0"/>
          </a:p>
        </p:txBody>
      </p:sp>
      <p:sp>
        <p:nvSpPr>
          <p:cNvPr id="21" name="Text 19"/>
          <p:cNvSpPr/>
          <p:nvPr/>
        </p:nvSpPr>
        <p:spPr>
          <a:xfrm>
            <a:off x="5669280" y="1965960"/>
            <a:ext cx="1371600" cy="64008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Honest test</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metrics + plots</a:t>
            </a:r>
            <a:endParaRPr lang="en-US" sz="900" dirty="0"/>
          </a:p>
        </p:txBody>
      </p:sp>
      <p:sp>
        <p:nvSpPr>
          <p:cNvPr id="22" name="Text 20"/>
          <p:cNvSpPr/>
          <p:nvPr/>
        </p:nvSpPr>
        <p:spPr>
          <a:xfrm>
            <a:off x="7132320" y="1645920"/>
            <a:ext cx="182880" cy="457200"/>
          </a:xfrm>
          <a:prstGeom prst="rect">
            <a:avLst/>
          </a:prstGeom>
          <a:noFill/>
          <a:ln/>
        </p:spPr>
        <p:txBody>
          <a:bodyPr wrap="square" rtlCol="0" anchor="ctr"/>
          <a:lstStyle/>
          <a:p>
            <a:pPr marL="0" indent="0" algn="ctr">
              <a:buNone/>
            </a:pPr>
            <a:r>
              <a:rPr lang="en-US" sz="2000" dirty="0">
                <a:solidFill>
                  <a:srgbClr val="1C7293"/>
                </a:solidFill>
              </a:rPr>
              <a:t>→</a:t>
            </a:r>
            <a:endParaRPr lang="en-US" sz="2000" dirty="0"/>
          </a:p>
        </p:txBody>
      </p:sp>
      <p:sp>
        <p:nvSpPr>
          <p:cNvPr id="23" name="Shape 21"/>
          <p:cNvSpPr/>
          <p:nvPr/>
        </p:nvSpPr>
        <p:spPr>
          <a:xfrm>
            <a:off x="7315200" y="1280160"/>
            <a:ext cx="1554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4" name="Shape 22"/>
          <p:cNvSpPr/>
          <p:nvPr/>
        </p:nvSpPr>
        <p:spPr>
          <a:xfrm>
            <a:off x="7315200" y="1280160"/>
            <a:ext cx="1554480" cy="54864"/>
          </a:xfrm>
          <a:prstGeom prst="rect">
            <a:avLst/>
          </a:prstGeom>
          <a:solidFill>
            <a:srgbClr val="1C7293"/>
          </a:solidFill>
          <a:ln/>
        </p:spPr>
        <p:txBody>
          <a:bodyPr/>
          <a:lstStyle/>
          <a:p>
            <a:endParaRPr lang="en-US"/>
          </a:p>
        </p:txBody>
      </p:sp>
      <p:sp>
        <p:nvSpPr>
          <p:cNvPr id="25" name="Text 23"/>
          <p:cNvSpPr/>
          <p:nvPr/>
        </p:nvSpPr>
        <p:spPr>
          <a:xfrm>
            <a:off x="7406640" y="1417320"/>
            <a:ext cx="1371600" cy="548640"/>
          </a:xfrm>
          <a:prstGeom prst="rect">
            <a:avLst/>
          </a:prstGeom>
          <a:noFill/>
          <a:ln/>
        </p:spPr>
        <p:txBody>
          <a:bodyPr wrap="square" rtlCol="0" anchor="t"/>
          <a:lstStyle/>
          <a:p>
            <a:pPr marL="0" indent="0">
              <a:buNone/>
            </a:pPr>
            <a:r>
              <a:rPr lang="en-US" sz="1000" b="1" dirty="0">
                <a:solidFill>
                  <a:srgbClr val="1E2761"/>
                </a:solidFill>
                <a:latin typeface="Calibri" pitchFamily="34" charset="0"/>
                <a:ea typeface="Calibri" pitchFamily="34" charset="-122"/>
                <a:cs typeface="Calibri" pitchFamily="34" charset="-120"/>
              </a:rPr>
              <a:t>fairness_split.py</a:t>
            </a:r>
            <a:endParaRPr lang="en-US" sz="1000" dirty="0"/>
          </a:p>
        </p:txBody>
      </p:sp>
      <p:sp>
        <p:nvSpPr>
          <p:cNvPr id="26" name="Text 24"/>
          <p:cNvSpPr/>
          <p:nvPr/>
        </p:nvSpPr>
        <p:spPr>
          <a:xfrm>
            <a:off x="7406640" y="1965960"/>
            <a:ext cx="1371600" cy="640080"/>
          </a:xfrm>
          <a:prstGeom prst="rect">
            <a:avLst/>
          </a:prstGeom>
          <a:noFill/>
          <a:ln/>
        </p:spPr>
        <p:txBody>
          <a:bodyPr wrap="square" rtlCol="0" anchor="t"/>
          <a:lstStyle/>
          <a:p>
            <a:pPr marL="0" indent="0">
              <a:buNone/>
            </a:pPr>
            <a:r>
              <a:rPr lang="en-US" sz="900" dirty="0">
                <a:solidFill>
                  <a:srgbClr val="64748B"/>
                </a:solidFill>
                <a:latin typeface="Calibri" pitchFamily="34" charset="0"/>
                <a:ea typeface="Calibri" pitchFamily="34" charset="-122"/>
                <a:cs typeface="Calibri" pitchFamily="34" charset="-120"/>
              </a:rPr>
              <a:t>Employment</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bias analysis</a:t>
            </a:r>
            <a:endParaRPr lang="en-US" sz="900" dirty="0"/>
          </a:p>
        </p:txBody>
      </p:sp>
      <p:sp>
        <p:nvSpPr>
          <p:cNvPr id="27" name="Text 25"/>
          <p:cNvSpPr/>
          <p:nvPr/>
        </p:nvSpPr>
        <p:spPr>
          <a:xfrm>
            <a:off x="548640" y="3200400"/>
            <a:ext cx="8229600" cy="5486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Key decisions:  </a:t>
            </a:r>
            <a:r>
              <a:rPr lang="en-US" sz="1300" dirty="0">
                <a:solidFill>
                  <a:srgbClr val="1A1A2E"/>
                </a:solidFill>
                <a:latin typeface="Calibri" pitchFamily="34" charset="0"/>
                <a:ea typeface="Calibri" pitchFamily="34" charset="-122"/>
                <a:cs typeface="Calibri" pitchFamily="34" charset="-120"/>
              </a:rPr>
              <a:t>Exclude 164 ongoing (no label)  |  Fill missing docs as signal, not noise  |  Threshold chosen on validation only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Exploratory Data Analysis</a:t>
            </a:r>
            <a:endParaRPr lang="en-US" sz="3600" dirty="0"/>
          </a:p>
        </p:txBody>
      </p:sp>
      <p:pic>
        <p:nvPicPr>
          <p:cNvPr id="4" name="Picture 3">
            <a:extLst>
              <a:ext uri="{FF2B5EF4-FFF2-40B4-BE49-F238E27FC236}">
                <a16:creationId xmlns:a16="http://schemas.microsoft.com/office/drawing/2014/main" id="{3105571E-05BE-B1AF-334C-76F6562166A6}"/>
              </a:ext>
            </a:extLst>
          </p:cNvPr>
          <p:cNvPicPr>
            <a:picLocks noChangeAspect="1"/>
          </p:cNvPicPr>
          <p:nvPr/>
        </p:nvPicPr>
        <p:blipFill>
          <a:blip r:embed="rId3"/>
          <a:stretch>
            <a:fillRect/>
          </a:stretch>
        </p:blipFill>
        <p:spPr>
          <a:xfrm>
            <a:off x="1991675" y="914399"/>
            <a:ext cx="4625510" cy="41187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a:extLst>
            <a:ext uri="{FF2B5EF4-FFF2-40B4-BE49-F238E27FC236}">
              <a16:creationId xmlns:a16="http://schemas.microsoft.com/office/drawing/2014/main" id="{74FE8162-D3A8-1396-418D-F8057FCB6E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4E2A94-056C-5FEB-633D-80020E9FF5CA}"/>
              </a:ext>
            </a:extLst>
          </p:cNvPr>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Exploratory Data Analysis</a:t>
            </a:r>
            <a:endParaRPr lang="en-US" sz="3600" dirty="0"/>
          </a:p>
        </p:txBody>
      </p:sp>
      <p:pic>
        <p:nvPicPr>
          <p:cNvPr id="3" name="Picture 2">
            <a:extLst>
              <a:ext uri="{FF2B5EF4-FFF2-40B4-BE49-F238E27FC236}">
                <a16:creationId xmlns:a16="http://schemas.microsoft.com/office/drawing/2014/main" id="{7B320B89-48C6-C3C2-E74D-4B45AD361097}"/>
              </a:ext>
            </a:extLst>
          </p:cNvPr>
          <p:cNvPicPr>
            <a:picLocks noChangeAspect="1"/>
          </p:cNvPicPr>
          <p:nvPr/>
        </p:nvPicPr>
        <p:blipFill>
          <a:blip r:embed="rId3"/>
          <a:stretch>
            <a:fillRect/>
          </a:stretch>
        </p:blipFill>
        <p:spPr>
          <a:xfrm>
            <a:off x="1950254" y="914400"/>
            <a:ext cx="4457526" cy="3960120"/>
          </a:xfrm>
          <a:prstGeom prst="rect">
            <a:avLst/>
          </a:prstGeom>
        </p:spPr>
      </p:pic>
    </p:spTree>
    <p:extLst>
      <p:ext uri="{BB962C8B-B14F-4D97-AF65-F5344CB8AC3E}">
        <p14:creationId xmlns:p14="http://schemas.microsoft.com/office/powerpoint/2010/main" val="2122829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32DE-3ABC-C46E-02CD-519F5C5601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3FF4D62-E859-323F-2F39-813C83AF8C7F}"/>
              </a:ext>
            </a:extLst>
          </p:cNvPr>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Exploratory Data Analysis</a:t>
            </a:r>
            <a:endParaRPr lang="en-US" sz="3600" dirty="0"/>
          </a:p>
        </p:txBody>
      </p:sp>
      <p:pic>
        <p:nvPicPr>
          <p:cNvPr id="4" name="Picture 3">
            <a:extLst>
              <a:ext uri="{FF2B5EF4-FFF2-40B4-BE49-F238E27FC236}">
                <a16:creationId xmlns:a16="http://schemas.microsoft.com/office/drawing/2014/main" id="{4FE00609-7D57-5ECF-0477-C4CF4D8C6B08}"/>
              </a:ext>
            </a:extLst>
          </p:cNvPr>
          <p:cNvPicPr>
            <a:picLocks noChangeAspect="1"/>
          </p:cNvPicPr>
          <p:nvPr/>
        </p:nvPicPr>
        <p:blipFill>
          <a:blip r:embed="rId3"/>
          <a:stretch>
            <a:fillRect/>
          </a:stretch>
        </p:blipFill>
        <p:spPr>
          <a:xfrm>
            <a:off x="1784724" y="914400"/>
            <a:ext cx="4580154" cy="4153191"/>
          </a:xfrm>
          <a:prstGeom prst="rect">
            <a:avLst/>
          </a:prstGeom>
        </p:spPr>
      </p:pic>
    </p:spTree>
    <p:extLst>
      <p:ext uri="{BB962C8B-B14F-4D97-AF65-F5344CB8AC3E}">
        <p14:creationId xmlns:p14="http://schemas.microsoft.com/office/powerpoint/2010/main" val="427030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Data Findings</a:t>
            </a:r>
            <a:endParaRPr lang="en-US" sz="3600" dirty="0"/>
          </a:p>
        </p:txBody>
      </p:sp>
      <p:sp>
        <p:nvSpPr>
          <p:cNvPr id="3" name="Shape 1"/>
          <p:cNvSpPr/>
          <p:nvPr/>
        </p:nvSpPr>
        <p:spPr>
          <a:xfrm>
            <a:off x="548640" y="1097280"/>
            <a:ext cx="80467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731520" y="1188720"/>
            <a:ext cx="1645920" cy="640080"/>
          </a:xfrm>
          <a:prstGeom prst="rect">
            <a:avLst/>
          </a:prstGeom>
          <a:noFill/>
          <a:ln/>
        </p:spPr>
        <p:txBody>
          <a:bodyPr wrap="square" rtlCol="0" anchor="ctr"/>
          <a:lstStyle/>
          <a:p>
            <a:pPr marL="0" indent="0">
              <a:buNone/>
            </a:pPr>
            <a:r>
              <a:rPr lang="en-US" sz="2400" b="1" dirty="0">
                <a:solidFill>
                  <a:srgbClr val="1C7293"/>
                </a:solidFill>
                <a:latin typeface="Georgia" pitchFamily="34" charset="0"/>
                <a:ea typeface="Georgia" pitchFamily="34" charset="-122"/>
                <a:cs typeface="Georgia" pitchFamily="34" charset="-120"/>
              </a:rPr>
              <a:t>14%</a:t>
            </a:r>
            <a:endParaRPr lang="en-US" sz="2400" dirty="0"/>
          </a:p>
        </p:txBody>
      </p:sp>
      <p:sp>
        <p:nvSpPr>
          <p:cNvPr id="5" name="Text 3"/>
          <p:cNvSpPr/>
          <p:nvPr/>
        </p:nvSpPr>
        <p:spPr>
          <a:xfrm>
            <a:off x="2560320" y="1143000"/>
            <a:ext cx="54864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Missing documentation</a:t>
            </a:r>
            <a:endParaRPr lang="en-US" sz="1500" dirty="0"/>
          </a:p>
        </p:txBody>
      </p:sp>
      <p:sp>
        <p:nvSpPr>
          <p:cNvPr id="6" name="Text 4"/>
          <p:cNvSpPr/>
          <p:nvPr/>
        </p:nvSpPr>
        <p:spPr>
          <a:xfrm>
            <a:off x="2560320" y="1481328"/>
            <a:ext cx="5486400" cy="3657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Not random — people who skip docs default at 49% vs 26%.</a:t>
            </a:r>
            <a:endParaRPr lang="en-US" sz="1200" dirty="0"/>
          </a:p>
        </p:txBody>
      </p:sp>
      <p:sp>
        <p:nvSpPr>
          <p:cNvPr id="7" name="Shape 5"/>
          <p:cNvSpPr/>
          <p:nvPr/>
        </p:nvSpPr>
        <p:spPr>
          <a:xfrm>
            <a:off x="548640" y="2057400"/>
            <a:ext cx="80467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731520" y="2148840"/>
            <a:ext cx="1645920" cy="640080"/>
          </a:xfrm>
          <a:prstGeom prst="rect">
            <a:avLst/>
          </a:prstGeom>
          <a:noFill/>
          <a:ln/>
        </p:spPr>
        <p:txBody>
          <a:bodyPr wrap="square" rtlCol="0" anchor="ctr"/>
          <a:lstStyle/>
          <a:p>
            <a:pPr marL="0" indent="0">
              <a:buNone/>
            </a:pPr>
            <a:r>
              <a:rPr lang="en-US" sz="2400" b="1" dirty="0">
                <a:solidFill>
                  <a:srgbClr val="1C7293"/>
                </a:solidFill>
                <a:latin typeface="Georgia" pitchFamily="34" charset="0"/>
                <a:ea typeface="Georgia" pitchFamily="34" charset="-122"/>
                <a:cs typeface="Georgia" pitchFamily="34" charset="-120"/>
              </a:rPr>
              <a:t>4%</a:t>
            </a:r>
            <a:endParaRPr lang="en-US" sz="2400" dirty="0"/>
          </a:p>
        </p:txBody>
      </p:sp>
      <p:sp>
        <p:nvSpPr>
          <p:cNvPr id="9" name="Text 7"/>
          <p:cNvSpPr/>
          <p:nvPr/>
        </p:nvSpPr>
        <p:spPr>
          <a:xfrm>
            <a:off x="2560320" y="2103120"/>
            <a:ext cx="54864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Income misrepresentation</a:t>
            </a:r>
            <a:endParaRPr lang="en-US" sz="1500" dirty="0"/>
          </a:p>
        </p:txBody>
      </p:sp>
      <p:sp>
        <p:nvSpPr>
          <p:cNvPr id="10" name="Text 8"/>
          <p:cNvSpPr/>
          <p:nvPr/>
        </p:nvSpPr>
        <p:spPr>
          <a:xfrm>
            <a:off x="2560320" y="2441448"/>
            <a:ext cx="5486400" cy="3657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Documented income &lt; 50% of stated. Default rate jumps to 44%.</a:t>
            </a:r>
            <a:endParaRPr lang="en-US" sz="1200" dirty="0"/>
          </a:p>
        </p:txBody>
      </p:sp>
      <p:sp>
        <p:nvSpPr>
          <p:cNvPr id="11" name="Shape 9"/>
          <p:cNvSpPr/>
          <p:nvPr/>
        </p:nvSpPr>
        <p:spPr>
          <a:xfrm>
            <a:off x="548640" y="3017520"/>
            <a:ext cx="80467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Text 10"/>
          <p:cNvSpPr/>
          <p:nvPr/>
        </p:nvSpPr>
        <p:spPr>
          <a:xfrm>
            <a:off x="731520" y="3108960"/>
            <a:ext cx="1645920" cy="640080"/>
          </a:xfrm>
          <a:prstGeom prst="rect">
            <a:avLst/>
          </a:prstGeom>
          <a:noFill/>
          <a:ln/>
        </p:spPr>
        <p:txBody>
          <a:bodyPr wrap="square" rtlCol="0" anchor="ctr"/>
          <a:lstStyle/>
          <a:p>
            <a:pPr marL="0" indent="0">
              <a:buNone/>
            </a:pPr>
            <a:r>
              <a:rPr lang="en-US" sz="2400" b="1" dirty="0">
                <a:solidFill>
                  <a:srgbClr val="1C7293"/>
                </a:solidFill>
                <a:latin typeface="Georgia" pitchFamily="34" charset="0"/>
                <a:ea typeface="Georgia" pitchFamily="34" charset="-122"/>
                <a:cs typeface="Georgia" pitchFamily="34" charset="-120"/>
              </a:rPr>
              <a:t>27% vs 29%</a:t>
            </a:r>
            <a:endParaRPr lang="en-US" sz="2400" dirty="0"/>
          </a:p>
        </p:txBody>
      </p:sp>
      <p:sp>
        <p:nvSpPr>
          <p:cNvPr id="13" name="Text 11"/>
          <p:cNvSpPr/>
          <p:nvPr/>
        </p:nvSpPr>
        <p:spPr>
          <a:xfrm>
            <a:off x="2560320" y="3063240"/>
            <a:ext cx="54864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Employed vs Self-employed</a:t>
            </a:r>
            <a:endParaRPr lang="en-US" sz="1500" dirty="0"/>
          </a:p>
        </p:txBody>
      </p:sp>
      <p:sp>
        <p:nvSpPr>
          <p:cNvPr id="14" name="Text 12"/>
          <p:cNvSpPr/>
          <p:nvPr/>
        </p:nvSpPr>
        <p:spPr>
          <a:xfrm>
            <a:off x="2560320" y="3401568"/>
            <a:ext cx="5486400" cy="3657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Nearly identical default rates, but rule system treats them very differently.</a:t>
            </a:r>
            <a:endParaRPr lang="en-US" sz="1200" dirty="0"/>
          </a:p>
        </p:txBody>
      </p:sp>
      <p:sp>
        <p:nvSpPr>
          <p:cNvPr id="15" name="Shape 13"/>
          <p:cNvSpPr/>
          <p:nvPr/>
        </p:nvSpPr>
        <p:spPr>
          <a:xfrm>
            <a:off x="548640" y="3977640"/>
            <a:ext cx="80467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731520" y="4069080"/>
            <a:ext cx="1645920" cy="640080"/>
          </a:xfrm>
          <a:prstGeom prst="rect">
            <a:avLst/>
          </a:prstGeom>
          <a:noFill/>
          <a:ln/>
        </p:spPr>
        <p:txBody>
          <a:bodyPr wrap="square" rtlCol="0" anchor="ctr"/>
          <a:lstStyle/>
          <a:p>
            <a:pPr marL="0" indent="0">
              <a:buNone/>
            </a:pPr>
            <a:r>
              <a:rPr lang="en-US" sz="2400" b="1" dirty="0">
                <a:solidFill>
                  <a:srgbClr val="1C7293"/>
                </a:solidFill>
                <a:latin typeface="Georgia" pitchFamily="34" charset="0"/>
                <a:ea typeface="Georgia" pitchFamily="34" charset="-122"/>
                <a:cs typeface="Georgia" pitchFamily="34" charset="-120"/>
              </a:rPr>
              <a:t>47%</a:t>
            </a:r>
            <a:endParaRPr lang="en-US" sz="2400" dirty="0"/>
          </a:p>
        </p:txBody>
      </p:sp>
      <p:sp>
        <p:nvSpPr>
          <p:cNvPr id="17" name="Text 15"/>
          <p:cNvSpPr/>
          <p:nvPr/>
        </p:nvSpPr>
        <p:spPr>
          <a:xfrm>
            <a:off x="2560320" y="4023360"/>
            <a:ext cx="54864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Unemployed default rate</a:t>
            </a:r>
            <a:endParaRPr lang="en-US" sz="1500" dirty="0"/>
          </a:p>
        </p:txBody>
      </p:sp>
      <p:sp>
        <p:nvSpPr>
          <p:cNvPr id="18" name="Text 16"/>
          <p:cNvSpPr/>
          <p:nvPr/>
        </p:nvSpPr>
        <p:spPr>
          <a:xfrm>
            <a:off x="2560320" y="4361688"/>
            <a:ext cx="5486400" cy="3657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Genuinely higher risk — differential treatment is defensible here.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Feature Engineering — 15 Features</a:t>
            </a:r>
            <a:endParaRPr lang="en-US" sz="3600" dirty="0"/>
          </a:p>
        </p:txBody>
      </p:sp>
      <p:sp>
        <p:nvSpPr>
          <p:cNvPr id="3" name="Shape 1"/>
          <p:cNvSpPr/>
          <p:nvPr/>
        </p:nvSpPr>
        <p:spPr>
          <a:xfrm>
            <a:off x="365760" y="1188720"/>
            <a:ext cx="196596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365760" y="1188720"/>
            <a:ext cx="1965960" cy="457200"/>
          </a:xfrm>
          <a:prstGeom prst="rect">
            <a:avLst/>
          </a:prstGeom>
          <a:solidFill>
            <a:srgbClr val="065A82"/>
          </a:solidFill>
          <a:ln/>
        </p:spPr>
        <p:txBody>
          <a:bodyPr/>
          <a:lstStyle/>
          <a:p>
            <a:endParaRPr lang="en-US"/>
          </a:p>
        </p:txBody>
      </p:sp>
      <p:sp>
        <p:nvSpPr>
          <p:cNvPr id="5" name="Text 3"/>
          <p:cNvSpPr/>
          <p:nvPr/>
        </p:nvSpPr>
        <p:spPr>
          <a:xfrm>
            <a:off x="457200" y="1234440"/>
            <a:ext cx="17830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Income Verification</a:t>
            </a:r>
            <a:endParaRPr lang="en-US" sz="1300" dirty="0"/>
          </a:p>
        </p:txBody>
      </p:sp>
      <p:sp>
        <p:nvSpPr>
          <p:cNvPr id="6" name="Text 4"/>
          <p:cNvSpPr/>
          <p:nvPr/>
        </p:nvSpPr>
        <p:spPr>
          <a:xfrm>
            <a:off x="502920" y="1828800"/>
            <a:ext cx="1691640" cy="1371600"/>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has_documentation, income_ratio,</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suspected_misrepresentation</a:t>
            </a:r>
            <a:endParaRPr lang="en-US" sz="1100" dirty="0"/>
          </a:p>
        </p:txBody>
      </p:sp>
      <p:sp>
        <p:nvSpPr>
          <p:cNvPr id="7" name="Shape 5"/>
          <p:cNvSpPr/>
          <p:nvPr/>
        </p:nvSpPr>
        <p:spPr>
          <a:xfrm>
            <a:off x="2514600" y="1188720"/>
            <a:ext cx="196596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6"/>
          <p:cNvSpPr/>
          <p:nvPr/>
        </p:nvSpPr>
        <p:spPr>
          <a:xfrm>
            <a:off x="2514600" y="1188720"/>
            <a:ext cx="1965960" cy="457200"/>
          </a:xfrm>
          <a:prstGeom prst="rect">
            <a:avLst/>
          </a:prstGeom>
          <a:solidFill>
            <a:srgbClr val="1C7293"/>
          </a:solidFill>
          <a:ln/>
        </p:spPr>
        <p:txBody>
          <a:bodyPr/>
          <a:lstStyle/>
          <a:p>
            <a:endParaRPr lang="en-US"/>
          </a:p>
        </p:txBody>
      </p:sp>
      <p:sp>
        <p:nvSpPr>
          <p:cNvPr id="9" name="Text 7"/>
          <p:cNvSpPr/>
          <p:nvPr/>
        </p:nvSpPr>
        <p:spPr>
          <a:xfrm>
            <a:off x="2606040" y="1234440"/>
            <a:ext cx="17830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Affordability</a:t>
            </a:r>
            <a:endParaRPr lang="en-US" sz="1300" dirty="0"/>
          </a:p>
        </p:txBody>
      </p:sp>
      <p:sp>
        <p:nvSpPr>
          <p:cNvPr id="10" name="Text 8"/>
          <p:cNvSpPr/>
          <p:nvPr/>
        </p:nvSpPr>
        <p:spPr>
          <a:xfrm>
            <a:off x="2651760" y="1828800"/>
            <a:ext cx="1691640" cy="1371600"/>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income_covers_loan_3x,</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stated_monthly_income, loan_amount</a:t>
            </a:r>
            <a:endParaRPr lang="en-US" sz="1100" dirty="0"/>
          </a:p>
        </p:txBody>
      </p:sp>
      <p:sp>
        <p:nvSpPr>
          <p:cNvPr id="11" name="Shape 9"/>
          <p:cNvSpPr/>
          <p:nvPr/>
        </p:nvSpPr>
        <p:spPr>
          <a:xfrm>
            <a:off x="4663440" y="1188720"/>
            <a:ext cx="196596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10"/>
          <p:cNvSpPr/>
          <p:nvPr/>
        </p:nvSpPr>
        <p:spPr>
          <a:xfrm>
            <a:off x="4663440" y="1188720"/>
            <a:ext cx="1965960" cy="457200"/>
          </a:xfrm>
          <a:prstGeom prst="rect">
            <a:avLst/>
          </a:prstGeom>
          <a:solidFill>
            <a:srgbClr val="27AE60"/>
          </a:solidFill>
          <a:ln/>
        </p:spPr>
        <p:txBody>
          <a:bodyPr/>
          <a:lstStyle/>
          <a:p>
            <a:endParaRPr lang="en-US"/>
          </a:p>
        </p:txBody>
      </p:sp>
      <p:sp>
        <p:nvSpPr>
          <p:cNvPr id="13" name="Text 11"/>
          <p:cNvSpPr/>
          <p:nvPr/>
        </p:nvSpPr>
        <p:spPr>
          <a:xfrm>
            <a:off x="4754880" y="1234440"/>
            <a:ext cx="17830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Account Health</a:t>
            </a:r>
            <a:endParaRPr lang="en-US" sz="1300" dirty="0"/>
          </a:p>
        </p:txBody>
      </p:sp>
      <p:sp>
        <p:nvSpPr>
          <p:cNvPr id="14" name="Text 12"/>
          <p:cNvSpPr/>
          <p:nvPr/>
        </p:nvSpPr>
        <p:spPr>
          <a:xfrm>
            <a:off x="4800600" y="1828800"/>
            <a:ext cx="1691640" cy="1371600"/>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withdrawal_to_deposit_ratio,</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low_balance, bank_has_overdrafts</a:t>
            </a:r>
            <a:endParaRPr lang="en-US" sz="1100" dirty="0"/>
          </a:p>
        </p:txBody>
      </p:sp>
      <p:sp>
        <p:nvSpPr>
          <p:cNvPr id="15" name="Shape 13"/>
          <p:cNvSpPr/>
          <p:nvPr/>
        </p:nvSpPr>
        <p:spPr>
          <a:xfrm>
            <a:off x="6812280" y="1188720"/>
            <a:ext cx="196596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4"/>
          <p:cNvSpPr/>
          <p:nvPr/>
        </p:nvSpPr>
        <p:spPr>
          <a:xfrm>
            <a:off x="6812280" y="1188720"/>
            <a:ext cx="1965960" cy="457200"/>
          </a:xfrm>
          <a:prstGeom prst="rect">
            <a:avLst/>
          </a:prstGeom>
          <a:solidFill>
            <a:srgbClr val="E67E22"/>
          </a:solidFill>
          <a:ln/>
        </p:spPr>
        <p:txBody>
          <a:bodyPr/>
          <a:lstStyle/>
          <a:p>
            <a:endParaRPr lang="en-US"/>
          </a:p>
        </p:txBody>
      </p:sp>
      <p:sp>
        <p:nvSpPr>
          <p:cNvPr id="17" name="Text 15"/>
          <p:cNvSpPr/>
          <p:nvPr/>
        </p:nvSpPr>
        <p:spPr>
          <a:xfrm>
            <a:off x="6903720" y="1234440"/>
            <a:ext cx="17830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Other</a:t>
            </a:r>
            <a:endParaRPr lang="en-US" sz="1300" dirty="0"/>
          </a:p>
        </p:txBody>
      </p:sp>
      <p:sp>
        <p:nvSpPr>
          <p:cNvPr id="18" name="Text 16"/>
          <p:cNvSpPr/>
          <p:nvPr/>
        </p:nvSpPr>
        <p:spPr>
          <a:xfrm>
            <a:off x="6949440" y="1828800"/>
            <a:ext cx="1691640" cy="1371600"/>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employment_encoded,</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bank_ending_balance, deposits, etc.</a:t>
            </a:r>
            <a:endParaRPr lang="en-US" sz="1100" dirty="0"/>
          </a:p>
        </p:txBody>
      </p:sp>
      <p:sp>
        <p:nvSpPr>
          <p:cNvPr id="19" name="Text 17"/>
          <p:cNvSpPr/>
          <p:nvPr/>
        </p:nvSpPr>
        <p:spPr>
          <a:xfrm>
            <a:off x="548640" y="3931920"/>
            <a:ext cx="8229600" cy="45720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Key principle: encode domain knowledge as features. The model learns optimal weights instead of hand-tuned rules.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Model Selection — Train-CV Results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1874520"/>
        </p:xfrm>
        <a:graphic>
          <a:graphicData uri="http://schemas.openxmlformats.org/drawingml/2006/table">
            <a:tbl>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411480">
                <a:tc>
                  <a:txBody>
                    <a:bodyPr/>
                    <a:lstStyle/>
                    <a:p>
                      <a:pPr marL="0" indent="0">
                        <a:buNone/>
                      </a:pPr>
                      <a:r>
                        <a:rPr lang="en-US" sz="1300" b="1" dirty="0">
                          <a:solidFill>
                            <a:srgbClr val="FFFFFF"/>
                          </a:solidFill>
                        </a:rPr>
                        <a:t>Model</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AUC-ROC</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F1</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Notes</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000000"/>
                          </a:solidFill>
                        </a:rPr>
                        <a:t>Logistic Regression</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rPr>
                        <a:t>0.71</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0.52</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rPr>
                        <a:t>Best AUC, most interpretable</a:t>
                      </a:r>
                      <a:endParaRPr lang="en-US" sz="11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000000"/>
                          </a:solidFill>
                        </a:rPr>
                        <a:t>Random Forest</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0.67</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0.41</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rPr>
                        <a:t>Overfits on small data</a:t>
                      </a:r>
                      <a:endParaRPr lang="en-US" sz="11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000000"/>
                          </a:solidFill>
                        </a:rPr>
                        <a:t>Gradient Boosting</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0.67</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0.39</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rPr>
                        <a:t>Same issue, high variance</a:t>
                      </a:r>
                      <a:endParaRPr lang="en-US" sz="11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000000"/>
                          </a:solidFill>
                        </a:rPr>
                        <a:t>Neural Network</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0.61</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0.21</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rPr>
                        <a:t>Unstable, too many params</a:t>
                      </a:r>
                      <a:endParaRPr lang="en-US" sz="11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548640" y="3383280"/>
            <a:ext cx="8046720" cy="6400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Why LR wins: </a:t>
            </a:r>
            <a:r>
              <a:rPr lang="en-US" sz="1300" dirty="0">
                <a:solidFill>
                  <a:srgbClr val="1A1A2E"/>
                </a:solidFill>
                <a:latin typeface="Calibri" pitchFamily="34" charset="0"/>
                <a:ea typeface="Calibri" pitchFamily="34" charset="-122"/>
                <a:cs typeface="Calibri" pitchFamily="34" charset="-120"/>
              </a:rPr>
              <a:t>The data generation function is a weighted sum through a sigmoid — that IS logistic regression. With only 1,101 training rows and 15 features, simpler models generalize better.</a:t>
            </a:r>
            <a:endParaRPr lang="en-US" sz="1300" dirty="0"/>
          </a:p>
        </p:txBody>
      </p:sp>
      <p:sp>
        <p:nvSpPr>
          <p:cNvPr id="5" name="Text 2"/>
          <p:cNvSpPr/>
          <p:nvPr/>
        </p:nvSpPr>
        <p:spPr>
          <a:xfrm>
            <a:off x="548640" y="4114800"/>
            <a:ext cx="8046720" cy="365760"/>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Threshold selected on validation set: 0.42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Model Explainability</a:t>
            </a:r>
            <a:endParaRPr lang="en-US" sz="3600" dirty="0"/>
          </a:p>
        </p:txBody>
      </p:sp>
      <p:pic>
        <p:nvPicPr>
          <p:cNvPr id="3" name="Image 0" descr="/home/claude/pptx_images/03_explainability.png"/>
          <p:cNvPicPr>
            <a:picLocks noChangeAspect="1"/>
          </p:cNvPicPr>
          <p:nvPr/>
        </p:nvPicPr>
        <p:blipFill>
          <a:blip r:embed="rId3"/>
          <a:stretch>
            <a:fillRect/>
          </a:stretch>
        </p:blipFill>
        <p:spPr>
          <a:xfrm>
            <a:off x="274320" y="1005840"/>
            <a:ext cx="859536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Test Set Results — The Honest Numbers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166116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buNone/>
                      </a:pP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ML Model</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 (strict)</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 (conservative)</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Defaults caught</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latin typeface="Calibri" pitchFamily="34" charset="0"/>
                          <a:ea typeface="Calibri" pitchFamily="34" charset="-122"/>
                          <a:cs typeface="Calibri" pitchFamily="34" charset="-120"/>
                        </a:rPr>
                        <a:t>96/109 (88%)</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36/109 (33%)</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85/109 (78%)</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Good wrongly denied</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135/259 (52%)</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latin typeface="Calibri" pitchFamily="34" charset="0"/>
                          <a:ea typeface="Calibri" pitchFamily="34" charset="-122"/>
                          <a:cs typeface="Calibri" pitchFamily="34" charset="-120"/>
                        </a:rPr>
                        <a:t>22/259 (8.5%)</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123/259 (47.5%)</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F1 (default)</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0.43</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0.54</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AUC-ROC</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27AE60"/>
                          </a:solidFill>
                          <a:latin typeface="Calibri" pitchFamily="34" charset="0"/>
                          <a:ea typeface="Calibri" pitchFamily="34" charset="-122"/>
                          <a:cs typeface="Calibri" pitchFamily="34" charset="-120"/>
                        </a:rPr>
                        <a:t>0.728</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0.722</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548640" y="3474720"/>
            <a:ext cx="8046720" cy="73152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The ML model catches 2.7x more defaults than the strict rule. The tradeoff: higher false positive rate. The threshold can be adjusted based on business cost of default vs lost customer.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Held-Out Test Evaluation</a:t>
            </a:r>
            <a:endParaRPr lang="en-US" sz="3600" dirty="0"/>
          </a:p>
        </p:txBody>
      </p:sp>
      <p:pic>
        <p:nvPicPr>
          <p:cNvPr id="4" name="Picture 3">
            <a:extLst>
              <a:ext uri="{FF2B5EF4-FFF2-40B4-BE49-F238E27FC236}">
                <a16:creationId xmlns:a16="http://schemas.microsoft.com/office/drawing/2014/main" id="{00FDF449-1681-D22A-8E6A-B52A71DEE596}"/>
              </a:ext>
            </a:extLst>
          </p:cNvPr>
          <p:cNvPicPr>
            <a:picLocks noChangeAspect="1"/>
          </p:cNvPicPr>
          <p:nvPr/>
        </p:nvPicPr>
        <p:blipFill>
          <a:blip r:embed="rId3"/>
          <a:stretch>
            <a:fillRect/>
          </a:stretch>
        </p:blipFill>
        <p:spPr>
          <a:xfrm>
            <a:off x="1835991" y="776739"/>
            <a:ext cx="4320503" cy="40924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1E2761"/>
                </a:solidFill>
                <a:latin typeface="Georgia" pitchFamily="34" charset="0"/>
                <a:ea typeface="Georgia" pitchFamily="34" charset="-122"/>
                <a:cs typeface="Georgia" pitchFamily="34" charset="-120"/>
              </a:rPr>
              <a:t>Fairness Analysis — Held-Out Test</a:t>
            </a:r>
            <a:endParaRPr lang="en-US" sz="3600" dirty="0"/>
          </a:p>
        </p:txBody>
      </p:sp>
      <p:pic>
        <p:nvPicPr>
          <p:cNvPr id="3" name="Image 0" descr="/home/claude/pptx_images/04_fairness_split.png"/>
          <p:cNvPicPr>
            <a:picLocks noChangeAspect="1"/>
          </p:cNvPicPr>
          <p:nvPr/>
        </p:nvPicPr>
        <p:blipFill>
          <a:blip r:embed="rId3"/>
          <a:stretch>
            <a:fillRect/>
          </a:stretch>
        </p:blipFill>
        <p:spPr>
          <a:xfrm>
            <a:off x="274320" y="1108710"/>
            <a:ext cx="8595360" cy="2926080"/>
          </a:xfrm>
          <a:prstGeom prst="rect">
            <a:avLst/>
          </a:prstGeom>
        </p:spPr>
      </p:pic>
      <p:sp>
        <p:nvSpPr>
          <p:cNvPr id="4" name="Text 1"/>
          <p:cNvSpPr/>
          <p:nvPr/>
        </p:nvSpPr>
        <p:spPr>
          <a:xfrm>
            <a:off x="548640" y="4023360"/>
            <a:ext cx="8046720" cy="5486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Key finding: </a:t>
            </a:r>
            <a:r>
              <a:rPr lang="en-US" sz="1300" dirty="0">
                <a:solidFill>
                  <a:srgbClr val="1A1A2E"/>
                </a:solidFill>
                <a:latin typeface="Calibri" pitchFamily="34" charset="0"/>
                <a:ea typeface="Calibri" pitchFamily="34" charset="-122"/>
                <a:cs typeface="Calibri" pitchFamily="34" charset="-120"/>
              </a:rPr>
              <a:t>Removing employment_status costs only 0.007 AUC on test but reduces the employed-vs-self-employed approval gap. Recommendation: drop the feature.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What Would Go Wrong Tomorrow?</a:t>
            </a:r>
            <a:endParaRPr lang="en-US" sz="3600" dirty="0"/>
          </a:p>
        </p:txBody>
      </p:sp>
      <p:sp>
        <p:nvSpPr>
          <p:cNvPr id="3" name="Shape 1"/>
          <p:cNvSpPr/>
          <p:nvPr/>
        </p:nvSpPr>
        <p:spPr>
          <a:xfrm>
            <a:off x="548640" y="1188720"/>
            <a:ext cx="8046720" cy="777240"/>
          </a:xfrm>
          <a:prstGeom prst="rect">
            <a:avLst/>
          </a:prstGeom>
          <a:solidFill>
            <a:srgbClr val="065A82"/>
          </a:solidFill>
          <a:ln/>
        </p:spPr>
        <p:txBody>
          <a:bodyPr/>
          <a:lstStyle/>
          <a:p>
            <a:endParaRPr lang="en-US"/>
          </a:p>
        </p:txBody>
      </p:sp>
      <p:sp>
        <p:nvSpPr>
          <p:cNvPr id="4" name="Text 2"/>
          <p:cNvSpPr/>
          <p:nvPr/>
        </p:nvSpPr>
        <p:spPr>
          <a:xfrm>
            <a:off x="731520" y="1234440"/>
            <a:ext cx="2011680" cy="685800"/>
          </a:xfrm>
          <a:prstGeom prst="rect">
            <a:avLst/>
          </a:prstGeom>
          <a:noFill/>
          <a:ln/>
        </p:spPr>
        <p:txBody>
          <a:bodyPr wrap="square"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Data Drift</a:t>
            </a:r>
            <a:endParaRPr lang="en-US" sz="1500" dirty="0"/>
          </a:p>
        </p:txBody>
      </p:sp>
      <p:sp>
        <p:nvSpPr>
          <p:cNvPr id="5" name="Text 3"/>
          <p:cNvSpPr/>
          <p:nvPr/>
        </p:nvSpPr>
        <p:spPr>
          <a:xfrm>
            <a:off x="2834640" y="1234440"/>
            <a:ext cx="5577840" cy="685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recession shifts default rates. Model probabilities and threshold become miscalibrated.</a:t>
            </a:r>
            <a:endParaRPr lang="en-US" sz="1200" dirty="0"/>
          </a:p>
        </p:txBody>
      </p:sp>
      <p:sp>
        <p:nvSpPr>
          <p:cNvPr id="6" name="Shape 4"/>
          <p:cNvSpPr/>
          <p:nvPr/>
        </p:nvSpPr>
        <p:spPr>
          <a:xfrm>
            <a:off x="548640" y="2103120"/>
            <a:ext cx="8046720" cy="777240"/>
          </a:xfrm>
          <a:prstGeom prst="rect">
            <a:avLst/>
          </a:prstGeom>
          <a:solidFill>
            <a:srgbClr val="065A82"/>
          </a:solidFill>
          <a:ln/>
        </p:spPr>
        <p:txBody>
          <a:bodyPr/>
          <a:lstStyle/>
          <a:p>
            <a:endParaRPr lang="en-US"/>
          </a:p>
        </p:txBody>
      </p:sp>
      <p:sp>
        <p:nvSpPr>
          <p:cNvPr id="7" name="Text 5"/>
          <p:cNvSpPr/>
          <p:nvPr/>
        </p:nvSpPr>
        <p:spPr>
          <a:xfrm>
            <a:off x="731520" y="2148840"/>
            <a:ext cx="2011680" cy="685800"/>
          </a:xfrm>
          <a:prstGeom prst="rect">
            <a:avLst/>
          </a:prstGeom>
          <a:noFill/>
          <a:ln/>
        </p:spPr>
        <p:txBody>
          <a:bodyPr wrap="square"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Selection Bias</a:t>
            </a:r>
            <a:endParaRPr lang="en-US" sz="1500" dirty="0"/>
          </a:p>
        </p:txBody>
      </p:sp>
      <p:sp>
        <p:nvSpPr>
          <p:cNvPr id="8" name="Text 6"/>
          <p:cNvSpPr/>
          <p:nvPr/>
        </p:nvSpPr>
        <p:spPr>
          <a:xfrm>
            <a:off x="2834640" y="2148840"/>
            <a:ext cx="5577840" cy="685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We only observe outcomes under the old rule system. High-risk approvals are underrepresented.</a:t>
            </a:r>
            <a:endParaRPr lang="en-US" sz="1200" dirty="0"/>
          </a:p>
        </p:txBody>
      </p:sp>
      <p:sp>
        <p:nvSpPr>
          <p:cNvPr id="9" name="Shape 7"/>
          <p:cNvSpPr/>
          <p:nvPr/>
        </p:nvSpPr>
        <p:spPr>
          <a:xfrm>
            <a:off x="548640" y="3017520"/>
            <a:ext cx="8046720" cy="777240"/>
          </a:xfrm>
          <a:prstGeom prst="rect">
            <a:avLst/>
          </a:prstGeom>
          <a:solidFill>
            <a:srgbClr val="065A82"/>
          </a:solidFill>
          <a:ln/>
        </p:spPr>
        <p:txBody>
          <a:bodyPr/>
          <a:lstStyle/>
          <a:p>
            <a:endParaRPr lang="en-US"/>
          </a:p>
        </p:txBody>
      </p:sp>
      <p:sp>
        <p:nvSpPr>
          <p:cNvPr id="10" name="Text 8"/>
          <p:cNvSpPr/>
          <p:nvPr/>
        </p:nvSpPr>
        <p:spPr>
          <a:xfrm>
            <a:off x="731520" y="3063240"/>
            <a:ext cx="2011680" cy="685800"/>
          </a:xfrm>
          <a:prstGeom prst="rect">
            <a:avLst/>
          </a:prstGeom>
          <a:noFill/>
          <a:ln/>
        </p:spPr>
        <p:txBody>
          <a:bodyPr wrap="square"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Regulatory Risk</a:t>
            </a:r>
            <a:endParaRPr lang="en-US" sz="1500" dirty="0"/>
          </a:p>
        </p:txBody>
      </p:sp>
      <p:sp>
        <p:nvSpPr>
          <p:cNvPr id="11" name="Text 9"/>
          <p:cNvSpPr/>
          <p:nvPr/>
        </p:nvSpPr>
        <p:spPr>
          <a:xfrm>
            <a:off x="2834640" y="3063240"/>
            <a:ext cx="5577840" cy="685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Rule system is transparent. ML needs an interpretability layer for audits.</a:t>
            </a:r>
            <a:endParaRPr lang="en-US" sz="1200" dirty="0"/>
          </a:p>
        </p:txBody>
      </p:sp>
      <p:sp>
        <p:nvSpPr>
          <p:cNvPr id="12" name="Shape 10"/>
          <p:cNvSpPr/>
          <p:nvPr/>
        </p:nvSpPr>
        <p:spPr>
          <a:xfrm>
            <a:off x="548640" y="3931920"/>
            <a:ext cx="8046720" cy="777240"/>
          </a:xfrm>
          <a:prstGeom prst="rect">
            <a:avLst/>
          </a:prstGeom>
          <a:solidFill>
            <a:srgbClr val="065A82"/>
          </a:solidFill>
          <a:ln/>
        </p:spPr>
        <p:txBody>
          <a:bodyPr/>
          <a:lstStyle/>
          <a:p>
            <a:endParaRPr lang="en-US"/>
          </a:p>
        </p:txBody>
      </p:sp>
      <p:sp>
        <p:nvSpPr>
          <p:cNvPr id="13" name="Text 11"/>
          <p:cNvSpPr/>
          <p:nvPr/>
        </p:nvSpPr>
        <p:spPr>
          <a:xfrm>
            <a:off x="731520" y="3977640"/>
            <a:ext cx="2011680" cy="685800"/>
          </a:xfrm>
          <a:prstGeom prst="rect">
            <a:avLst/>
          </a:prstGeom>
          <a:noFill/>
          <a:ln/>
        </p:spPr>
        <p:txBody>
          <a:bodyPr wrap="square"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Threshold Sensitivity</a:t>
            </a:r>
            <a:endParaRPr lang="en-US" sz="1500" dirty="0"/>
          </a:p>
        </p:txBody>
      </p:sp>
      <p:sp>
        <p:nvSpPr>
          <p:cNvPr id="14" name="Text 12"/>
          <p:cNvSpPr/>
          <p:nvPr/>
        </p:nvSpPr>
        <p:spPr>
          <a:xfrm>
            <a:off x="2834640" y="3977640"/>
            <a:ext cx="5577840" cy="685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Small score shifts cause large swings in approval rates. Needs weekly monitoring.</a:t>
            </a:r>
            <a:endParaRPr lang="en-US" sz="1200" dirty="0"/>
          </a:p>
        </p:txBody>
      </p:sp>
      <p:sp>
        <p:nvSpPr>
          <p:cNvPr id="15" name="Text 13"/>
          <p:cNvSpPr/>
          <p:nvPr/>
        </p:nvSpPr>
        <p:spPr>
          <a:xfrm>
            <a:off x="548640" y="4572000"/>
            <a:ext cx="804672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Recommendation: Deploy as a decision-support layer alongside the rule system. Flag disagreements for human review.</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Summary</a:t>
            </a:r>
            <a:endParaRPr lang="en-US" sz="4000" dirty="0"/>
          </a:p>
        </p:txBody>
      </p:sp>
      <p:sp>
        <p:nvSpPr>
          <p:cNvPr id="3" name="Text 1"/>
          <p:cNvSpPr/>
          <p:nvPr/>
        </p:nvSpPr>
        <p:spPr>
          <a:xfrm>
            <a:off x="914400" y="1188720"/>
            <a:ext cx="777240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Logistic Regression wins — matches the data generation process, generalizes best on 1,101 training rows.</a:t>
            </a:r>
            <a:endParaRPr lang="en-US" sz="1500" dirty="0"/>
          </a:p>
        </p:txBody>
      </p:sp>
      <p:sp>
        <p:nvSpPr>
          <p:cNvPr id="4" name="Shape 2"/>
          <p:cNvSpPr/>
          <p:nvPr/>
        </p:nvSpPr>
        <p:spPr>
          <a:xfrm>
            <a:off x="548640" y="1371600"/>
            <a:ext cx="228600" cy="228600"/>
          </a:xfrm>
          <a:prstGeom prst="ellipse">
            <a:avLst/>
          </a:prstGeom>
          <a:solidFill>
            <a:srgbClr val="1C7293"/>
          </a:solidFill>
          <a:ln/>
        </p:spPr>
        <p:txBody>
          <a:bodyPr/>
          <a:lstStyle/>
          <a:p>
            <a:endParaRPr lang="en-US"/>
          </a:p>
        </p:txBody>
      </p:sp>
      <p:sp>
        <p:nvSpPr>
          <p:cNvPr id="5" name="Text 3"/>
          <p:cNvSpPr/>
          <p:nvPr/>
        </p:nvSpPr>
        <p:spPr>
          <a:xfrm>
            <a:off x="914400" y="1920240"/>
            <a:ext cx="777240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Honest 60/20/20 evaluation: catches 88% of defaults on held-out test (vs 33% for rule system).</a:t>
            </a:r>
            <a:endParaRPr lang="en-US" sz="1500" dirty="0"/>
          </a:p>
        </p:txBody>
      </p:sp>
      <p:sp>
        <p:nvSpPr>
          <p:cNvPr id="6" name="Shape 4"/>
          <p:cNvSpPr/>
          <p:nvPr/>
        </p:nvSpPr>
        <p:spPr>
          <a:xfrm>
            <a:off x="548640" y="2103120"/>
            <a:ext cx="228600" cy="228600"/>
          </a:xfrm>
          <a:prstGeom prst="ellipse">
            <a:avLst/>
          </a:prstGeom>
          <a:solidFill>
            <a:srgbClr val="1C7293"/>
          </a:solidFill>
          <a:ln/>
        </p:spPr>
        <p:txBody>
          <a:bodyPr/>
          <a:lstStyle/>
          <a:p>
            <a:endParaRPr lang="en-US"/>
          </a:p>
        </p:txBody>
      </p:sp>
      <p:sp>
        <p:nvSpPr>
          <p:cNvPr id="7" name="Text 5"/>
          <p:cNvSpPr/>
          <p:nvPr/>
        </p:nvSpPr>
        <p:spPr>
          <a:xfrm>
            <a:off x="914400" y="2651760"/>
            <a:ext cx="777240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Threshold is a business decision, not a technical one — slides between 52% and 8% FPR.</a:t>
            </a:r>
            <a:endParaRPr lang="en-US" sz="1500" dirty="0"/>
          </a:p>
        </p:txBody>
      </p:sp>
      <p:sp>
        <p:nvSpPr>
          <p:cNvPr id="8" name="Shape 6"/>
          <p:cNvSpPr/>
          <p:nvPr/>
        </p:nvSpPr>
        <p:spPr>
          <a:xfrm>
            <a:off x="548640" y="2834640"/>
            <a:ext cx="228600" cy="228600"/>
          </a:xfrm>
          <a:prstGeom prst="ellipse">
            <a:avLst/>
          </a:prstGeom>
          <a:solidFill>
            <a:srgbClr val="1C7293"/>
          </a:solidFill>
          <a:ln/>
        </p:spPr>
        <p:txBody>
          <a:bodyPr/>
          <a:lstStyle/>
          <a:p>
            <a:endParaRPr lang="en-US"/>
          </a:p>
        </p:txBody>
      </p:sp>
      <p:sp>
        <p:nvSpPr>
          <p:cNvPr id="9" name="Text 7"/>
          <p:cNvSpPr/>
          <p:nvPr/>
        </p:nvSpPr>
        <p:spPr>
          <a:xfrm>
            <a:off x="914400" y="3383280"/>
            <a:ext cx="777240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Fairness: removing employment feature costs ~0 AUC but reduces unjustified approval gaps.</a:t>
            </a:r>
            <a:endParaRPr lang="en-US" sz="1500" dirty="0"/>
          </a:p>
        </p:txBody>
      </p:sp>
      <p:sp>
        <p:nvSpPr>
          <p:cNvPr id="10" name="Shape 8"/>
          <p:cNvSpPr/>
          <p:nvPr/>
        </p:nvSpPr>
        <p:spPr>
          <a:xfrm>
            <a:off x="548640" y="3566160"/>
            <a:ext cx="228600" cy="228600"/>
          </a:xfrm>
          <a:prstGeom prst="ellipse">
            <a:avLst/>
          </a:prstGeom>
          <a:solidFill>
            <a:srgbClr val="1C7293"/>
          </a:solidFill>
          <a:ln/>
        </p:spPr>
        <p:txBody>
          <a:bodyPr/>
          <a:lstStyle/>
          <a:p>
            <a:endParaRPr lang="en-US"/>
          </a:p>
        </p:txBody>
      </p:sp>
      <p:sp>
        <p:nvSpPr>
          <p:cNvPr id="11" name="Text 9"/>
          <p:cNvSpPr/>
          <p:nvPr/>
        </p:nvSpPr>
        <p:spPr>
          <a:xfrm>
            <a:off x="914400" y="4114800"/>
            <a:ext cx="7772400" cy="64008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Production: deploy alongside rules, not as a replacement. Monitor weekly.</a:t>
            </a:r>
            <a:endParaRPr lang="en-US" sz="1500" dirty="0"/>
          </a:p>
        </p:txBody>
      </p:sp>
      <p:sp>
        <p:nvSpPr>
          <p:cNvPr id="12" name="Shape 10"/>
          <p:cNvSpPr/>
          <p:nvPr/>
        </p:nvSpPr>
        <p:spPr>
          <a:xfrm>
            <a:off x="548640" y="4297680"/>
            <a:ext cx="228600" cy="228600"/>
          </a:xfrm>
          <a:prstGeom prst="ellipse">
            <a:avLst/>
          </a:prstGeom>
          <a:solidFill>
            <a:srgbClr val="1C7293"/>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1608</Words>
  <Application>Microsoft Macintosh PowerPoint</Application>
  <PresentationFormat>On-screen Show (16:9)</PresentationFormat>
  <Paragraphs>181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Default Prediction — 60/20/20 Split Pipeline</dc:title>
  <dc:subject>PptxGenJS Presentation</dc:subject>
  <dc:creator>Oscar Wang</dc:creator>
  <cp:lastModifiedBy>Oscar Wang</cp:lastModifiedBy>
  <cp:revision>5</cp:revision>
  <dcterms:created xsi:type="dcterms:W3CDTF">2026-03-13T11:14:25Z</dcterms:created>
  <dcterms:modified xsi:type="dcterms:W3CDTF">2026-03-13T13:40:07Z</dcterms:modified>
</cp:coreProperties>
</file>